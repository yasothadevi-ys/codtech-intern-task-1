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trend (replace with your dataset)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Temperature (°C)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</c:v>
                </c:pt>
                <c:pt idx="1">
                  <c:v>26</c:v>
                </c:pt>
                <c:pt idx="2">
                  <c:v>28</c:v>
                </c:pt>
                <c:pt idx="3">
                  <c:v>30</c:v>
                </c:pt>
                <c:pt idx="4">
                  <c:v>32</c:v>
                </c:pt>
                <c:pt idx="5">
                  <c:v>31</c:v>
                </c:pt>
                <c:pt idx="6">
                  <c:v>30</c:v>
                </c:pt>
                <c:pt idx="7">
                  <c:v>30</c:v>
                </c:pt>
                <c:pt idx="8">
                  <c:v>29</c:v>
                </c:pt>
                <c:pt idx="9">
                  <c:v>28</c:v>
                </c:pt>
                <c:pt idx="10">
                  <c:v>26</c:v>
                </c:pt>
                <c:pt idx="11">
                  <c:v>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rainfall distribution (replace with your dataset)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Rainfall (mm)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</c:v>
                </c:pt>
                <c:pt idx="1">
                  <c:v>20</c:v>
                </c:pt>
                <c:pt idx="2">
                  <c:v>30</c:v>
                </c:pt>
                <c:pt idx="3">
                  <c:v>55</c:v>
                </c:pt>
                <c:pt idx="4">
                  <c:v>70</c:v>
                </c:pt>
                <c:pt idx="5">
                  <c:v>90</c:v>
                </c:pt>
                <c:pt idx="6">
                  <c:v>85</c:v>
                </c:pt>
                <c:pt idx="7">
                  <c:v>80</c:v>
                </c:pt>
                <c:pt idx="8">
                  <c:v>95</c:v>
                </c:pt>
                <c:pt idx="9">
                  <c:v>150</c:v>
                </c:pt>
                <c:pt idx="10">
                  <c:v>120</c:v>
                </c:pt>
                <c:pt idx="11">
                  <c:v>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6984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9966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4304B"/>
                </a:solidFill>
              </a:defRPr>
            </a:pPr>
            <a:r>
              <a:t>WEATHER PATTERN</a:t>
            </a:r>
            <a:br/>
            <a: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63240"/>
            <a:ext cx="9601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700">
                <a:solidFill>
                  <a:srgbClr val="232D37"/>
                </a:solidFill>
              </a:defRPr>
            </a:pPr>
            <a:r>
              <a:t>Data Analytics Internship Project</a:t>
            </a:r>
          </a:p>
          <a:p>
            <a:pPr algn="ctr">
              <a:spcAft>
                <a:spcPts val="600"/>
              </a:spcAft>
              <a:defRPr sz="1700">
                <a:solidFill>
                  <a:srgbClr val="232D37"/>
                </a:solidFill>
              </a:defRPr>
            </a:pPr>
            <a:r>
              <a:t>Name: Yasothadevi</a:t>
            </a:r>
          </a:p>
          <a:p>
            <a:pPr algn="ctr">
              <a:spcAft>
                <a:spcPts val="600"/>
              </a:spcAft>
              <a:defRPr sz="1700">
                <a:solidFill>
                  <a:srgbClr val="232D37"/>
                </a:solidFill>
              </a:defRPr>
            </a:pPr>
            <a:r>
              <a:t>Intern ID: CMSCV0VPN1</a:t>
            </a:r>
          </a:p>
          <a:p>
            <a:pPr algn="ctr">
              <a:spcAft>
                <a:spcPts val="600"/>
              </a:spcAft>
              <a:defRPr sz="1700">
                <a:solidFill>
                  <a:srgbClr val="232D37"/>
                </a:solidFill>
              </a:defRPr>
            </a:pPr>
            <a:r>
              <a:t>CODTECH IT SOLUTION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4B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Weather pattern analysis studies how atmospheric conditions change over time and across locations.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Key variables include temperature, rainfall, humidity, atmospheric pressure and wind.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Data analytics converts large weather datasets into trends, patterns, anomalies and useful insights.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These insights support agriculture, water management, disaster preparedness and planning.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Weather Pattern Analysis  |  Yasothadevi  |  CODTECH IT SOLUTION PVT. LTD.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4B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Weather conditions vary daily, seasonally and geographically, making raw weather records difficult to interpret.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Manual analysis may hide long-term trends, unusual events and relationships between variables.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The project aims to organize weather data and identify meaningful patterns using statistical and visualization techniques.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Reliable pattern analysis can improve understanding of rainfall variability and temperature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Weather Pattern Analysis  |  Yasothadevi  |  CODTECH IT SOLUTION PVT. LTD.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4B"/>
                </a:solidFill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Analyze historical weather observations.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Identify monthly and seasonal temperature and rainfall patterns.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Measure averages, variability and anomalies.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Visualize trends using charts and dashboards.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Detect unusually high/low weather observations.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Generate insights useful for planning and decision-making.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Weather Pattern Analysis  |  Yasothadevi  |  CODTECH IT SOLUTION PVT. LTD.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4B"/>
                </a:solidFill>
              </a:defRPr>
            </a:pPr>
            <a:r>
              <a:t>4. Weather Data &amp; Variables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2194560" cy="566928"/>
          </a:xfrm>
          <a:prstGeom prst="roundRect">
            <a:avLst/>
          </a:prstGeom>
          <a:solidFill>
            <a:srgbClr val="2C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39903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Daily / monthly mean, maximum and minimum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75688"/>
            <a:ext cx="2194560" cy="566928"/>
          </a:xfrm>
          <a:prstGeom prst="roundRect">
            <a:avLst/>
          </a:prstGeom>
          <a:solidFill>
            <a:srgbClr val="2C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Rainfall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14884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Daily or monthly precipitation amount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25496"/>
            <a:ext cx="2194560" cy="566928"/>
          </a:xfrm>
          <a:prstGeom prst="roundRect">
            <a:avLst/>
          </a:prstGeom>
          <a:solidFill>
            <a:srgbClr val="2C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16936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Humidity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898648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Relative humidity percentage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75303"/>
            <a:ext cx="2194560" cy="566928"/>
          </a:xfrm>
          <a:prstGeom prst="roundRect">
            <a:avLst/>
          </a:prstGeom>
          <a:solidFill>
            <a:srgbClr val="2C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6674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648456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Atmospheric pressure measurements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25112"/>
            <a:ext cx="2194560" cy="566928"/>
          </a:xfrm>
          <a:prstGeom prst="roundRect">
            <a:avLst/>
          </a:prstGeom>
          <a:solidFill>
            <a:srgbClr val="2C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16551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Wind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398264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Speed and direction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074920"/>
            <a:ext cx="2194560" cy="566928"/>
          </a:xfrm>
          <a:prstGeom prst="roundRect">
            <a:avLst/>
          </a:prstGeom>
          <a:solidFill>
            <a:srgbClr val="2C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166359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Date / Season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14807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Time dimension for trend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Weather Pattern Analysis  |  Yasothadevi  |  CODTECH IT SOLUTION PVT. LTD.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4B"/>
                </a:solidFill>
              </a:defRPr>
            </a:pPr>
            <a:r>
              <a:t>5. Methodology / Data Analytics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40280"/>
            <a:ext cx="1645920" cy="960120"/>
          </a:xfrm>
          <a:prstGeom prst="roundRect">
            <a:avLst/>
          </a:prstGeom>
          <a:solidFill>
            <a:srgbClr val="2C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46888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 Collection</a:t>
            </a:r>
          </a:p>
        </p:txBody>
      </p:sp>
      <p:sp>
        <p:nvSpPr>
          <p:cNvPr id="6" name="Chevron 5"/>
          <p:cNvSpPr/>
          <p:nvPr/>
        </p:nvSpPr>
        <p:spPr>
          <a:xfrm>
            <a:off x="2167128" y="2487168"/>
            <a:ext cx="411480" cy="457200"/>
          </a:xfrm>
          <a:prstGeom prst="chevron">
            <a:avLst/>
          </a:prstGeom>
          <a:solidFill>
            <a:srgbClr val="2F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39" y="2240280"/>
            <a:ext cx="1645920" cy="960120"/>
          </a:xfrm>
          <a:prstGeom prst="roundRect">
            <a:avLst/>
          </a:prstGeom>
          <a:solidFill>
            <a:srgbClr val="2C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79" y="246888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 Cleaning</a:t>
            </a:r>
          </a:p>
        </p:txBody>
      </p:sp>
      <p:sp>
        <p:nvSpPr>
          <p:cNvPr id="9" name="Chevron 8"/>
          <p:cNvSpPr/>
          <p:nvPr/>
        </p:nvSpPr>
        <p:spPr>
          <a:xfrm>
            <a:off x="4041648" y="2487168"/>
            <a:ext cx="411480" cy="457200"/>
          </a:xfrm>
          <a:prstGeom prst="chevron">
            <a:avLst/>
          </a:prstGeom>
          <a:solidFill>
            <a:srgbClr val="2F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59" y="2240280"/>
            <a:ext cx="1645920" cy="960120"/>
          </a:xfrm>
          <a:prstGeom prst="roundRect">
            <a:avLst/>
          </a:prstGeom>
          <a:solidFill>
            <a:srgbClr val="2C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246888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Exploratory Analysis</a:t>
            </a:r>
          </a:p>
        </p:txBody>
      </p:sp>
      <p:sp>
        <p:nvSpPr>
          <p:cNvPr id="12" name="Chevron 11"/>
          <p:cNvSpPr/>
          <p:nvPr/>
        </p:nvSpPr>
        <p:spPr>
          <a:xfrm>
            <a:off x="5916168" y="2487168"/>
            <a:ext cx="411480" cy="457200"/>
          </a:xfrm>
          <a:prstGeom prst="chevron">
            <a:avLst/>
          </a:prstGeom>
          <a:solidFill>
            <a:srgbClr val="2F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79" y="2240280"/>
            <a:ext cx="1645920" cy="960120"/>
          </a:xfrm>
          <a:prstGeom prst="roundRect">
            <a:avLst/>
          </a:prstGeom>
          <a:solidFill>
            <a:srgbClr val="2C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19" y="246888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Visualization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7790688" y="2487168"/>
            <a:ext cx="411480" cy="457200"/>
          </a:xfrm>
          <a:prstGeom prst="chevron">
            <a:avLst/>
          </a:prstGeom>
          <a:solidFill>
            <a:srgbClr val="2F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2240280"/>
            <a:ext cx="1645920" cy="960120"/>
          </a:xfrm>
          <a:prstGeom prst="roundRect">
            <a:avLst/>
          </a:prstGeom>
          <a:solidFill>
            <a:srgbClr val="2C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46888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Pattern &amp; Trend Analysis</a:t>
            </a:r>
          </a:p>
        </p:txBody>
      </p:sp>
      <p:sp>
        <p:nvSpPr>
          <p:cNvPr id="18" name="Chevron 17"/>
          <p:cNvSpPr/>
          <p:nvPr/>
        </p:nvSpPr>
        <p:spPr>
          <a:xfrm>
            <a:off x="9665208" y="2487168"/>
            <a:ext cx="411480" cy="457200"/>
          </a:xfrm>
          <a:prstGeom prst="chevron">
            <a:avLst/>
          </a:prstGeom>
          <a:solidFill>
            <a:srgbClr val="2F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75520" y="2240280"/>
            <a:ext cx="1645920" cy="960120"/>
          </a:xfrm>
          <a:prstGeom prst="roundRect">
            <a:avLst/>
          </a:prstGeom>
          <a:solidFill>
            <a:srgbClr val="2F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246888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40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37"/>
                </a:solidFill>
              </a:defRPr>
            </a:pPr>
            <a:r>
              <a:t>Typical tools: Excel / Python / Power BI / Tableau / statistical methods.</a:t>
            </a:r>
          </a:p>
          <a:p>
            <a:pPr>
              <a:spcAft>
                <a:spcPts val="1200"/>
              </a:spcAft>
              <a:defRPr sz="1500">
                <a:solidFill>
                  <a:srgbClr val="232D37"/>
                </a:solidFill>
              </a:defRPr>
            </a:pPr>
            <a:r>
              <a:t>For advanced classification, clustering can be used to group recurring circulation patterns.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Weather Pattern Analysis  |  Yasothadevi  |  CODTECH IT SOLUTION PVT. LTD.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4B"/>
                </a:solidFill>
              </a:defRPr>
            </a:pPr>
            <a:r>
              <a:t>6. Data Cleaning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Check missing values and duplicate records.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Convert dates into consistent formats and derive month, season and year fields.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Validate measurement ranges and investigate outliers.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Aggregate daily observations into weekly, monthly or seasonal summaries where appropriate.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Keep a clean analytical dataset for reproducible charts and calculations.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Weather Pattern Analysis  |  Yasothadevi  |  CODTECH IT SOLUTION PVT. LTD.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4B"/>
                </a:solidFill>
              </a:defRPr>
            </a:pPr>
            <a:r>
              <a:t>7. Temperature Pattern — Illustrative Monthly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25880"/>
          <a:ext cx="102412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Weather Pattern Analysis  |  Yasothadevi  |  CODTECH IT SOLUTION PVT. LTD.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4B"/>
                </a:solidFill>
              </a:defRPr>
            </a:pPr>
            <a:r>
              <a:t>8. Rainfall Pattern — Illustrative Monthly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25880"/>
          <a:ext cx="102412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Weather Pattern Analysis  |  Yasothadevi  |  CODTECH IT SOLUTION PVT. LTD.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4B"/>
                </a:solidFill>
              </a:defRPr>
            </a:pPr>
            <a:r>
              <a:t>9. Trend &amp;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Trend: a persistent upward or downward movement over time.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Positive rainfall anomaly: rainfall is above the selected long-term baseline.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Negative rainfall anomaly: rainfall is below the selected baseline.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Temperature anomalies can highlight unusually warm or cool periods.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Statistical methods such as moving averages, standard deviation, Mann–Kendall testing and Sen’s slope can support trend assessment.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Weather Pattern Analysis  |  Yasothadevi  |  CODTECH IT SOLUTION PVT. LTD.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4B"/>
                </a:solidFill>
              </a:defRPr>
            </a:pPr>
            <a:r>
              <a:t>10. Seasonal Weather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697480" cy="4206240"/>
          </a:xfrm>
          <a:prstGeom prst="roundRect">
            <a:avLst/>
          </a:prstGeom>
          <a:solidFill>
            <a:srgbClr val="EBF4FA"/>
          </a:solidFill>
          <a:ln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4304B"/>
                </a:solidFill>
              </a:defRPr>
            </a:pPr>
            <a:r>
              <a:t>Winter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22402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D37"/>
                </a:solidFill>
              </a:defRPr>
            </a:pPr>
            <a:r>
              <a:t>Generally cooler and often drier in many regions.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08760"/>
            <a:ext cx="2697480" cy="4206240"/>
          </a:xfrm>
          <a:prstGeom prst="roundRect">
            <a:avLst/>
          </a:prstGeom>
          <a:solidFill>
            <a:srgbClr val="EBF4FA"/>
          </a:solidFill>
          <a:ln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830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4304B"/>
                </a:solidFill>
              </a:defRPr>
            </a:pPr>
            <a:r>
              <a:t>Pre-Monsoon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14600"/>
            <a:ext cx="22402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D37"/>
                </a:solidFill>
              </a:defRPr>
            </a:pPr>
            <a:r>
              <a:t>Rising temperatures; local convective rainfall may occur.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08760"/>
            <a:ext cx="2697480" cy="4206240"/>
          </a:xfrm>
          <a:prstGeom prst="roundRect">
            <a:avLst/>
          </a:prstGeom>
          <a:solidFill>
            <a:srgbClr val="EBF4FA"/>
          </a:solidFill>
          <a:ln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4304B"/>
                </a:solidFill>
              </a:defRPr>
            </a:pPr>
            <a:r>
              <a:t>Southwest Monsoon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22402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D37"/>
                </a:solidFill>
              </a:defRPr>
            </a:pPr>
            <a:r>
              <a:t>Major rainfall season across much of India.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508760"/>
            <a:ext cx="2697480" cy="4206240"/>
          </a:xfrm>
          <a:prstGeom prst="roundRect">
            <a:avLst/>
          </a:prstGeom>
          <a:solidFill>
            <a:srgbClr val="EBF4FA"/>
          </a:solidFill>
          <a:ln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7830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4304B"/>
                </a:solidFill>
              </a:defRPr>
            </a:pPr>
            <a:r>
              <a:t>Post-Monsoon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514600"/>
            <a:ext cx="22402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D37"/>
                </a:solidFill>
              </a:defRPr>
            </a:pPr>
            <a:r>
              <a:t>Rainfall patterns shift; parts of southern India receive important rainfall.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Weather Pattern Analysis  |  Yasothadevi  |  CODTECH IT SOLUTION PVT. LTD.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4B"/>
                </a:solidFill>
              </a:defRPr>
            </a:pPr>
            <a:r>
              <a:t>11. Key Findings /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Weather variables show clear seasonal cycles.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Rainfall is typically more variable than temperature over short periods.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Extreme or unusual observations can be identified through anomaly analysis.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Visualizations make seasonal peaks, declines and changes easier to communicate.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Weather patterns are influenced by large-scale circulation, monsoon behavior, topography and local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Weather Pattern Analysis  |  Yasothadevi  |  CODTECH IT SOLUTION PVT. LTD.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4B"/>
                </a:solidFill>
              </a:defRPr>
            </a:pPr>
            <a:r>
              <a:t>12. Applications of Weather Pattern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Agriculture: crop planning, irrigation and weather-sensitive operations.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Water resources: reservoir planning, drought and flood risk assessment.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Disaster management: early identification of high-impact weather periods.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Urban planning: heat-risk assessment and infrastructure planning.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Business analytics: weather-sensitive demand, logistics and operational planning.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Weather Pattern Analysis  |  Yasothadevi  |  CODTECH IT SOLUTION PVT. LTD.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4B"/>
                </a:solidFill>
              </a:defRPr>
            </a:pPr>
            <a:r>
              <a:t>13.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Historical datasets may contain missing observations, station gaps or measurement inconsistencies.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Weather is highly variable; correlation does not automatically imply causation.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Future work can integrate satellite/reanalysis data and higher-resolution local observations.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Machine learning can be used for classification, forecasting and anomaly detection.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Interactive dashboards can provide real-time monitoring and automated alerts.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Weather Pattern Analysis  |  Yasothadevi  |  CODTECH IT SOLUTION PVT. LTD.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4B"/>
                </a:solidFill>
              </a:defRPr>
            </a:pPr>
            <a:r>
              <a:t>14. 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37"/>
                </a:solidFill>
              </a:defRPr>
            </a:pPr>
            <a:r>
              <a:t>Weather pattern analysis transforms raw meteorological records into actionable insights.</a:t>
            </a:r>
          </a:p>
          <a:p>
            <a:pPr>
              <a:spcAft>
                <a:spcPts val="1200"/>
              </a:spcAft>
              <a:defRPr sz="1600">
                <a:solidFill>
                  <a:srgbClr val="232D37"/>
                </a:solidFill>
              </a:defRPr>
            </a:pPr>
            <a:r>
              <a:t>The combination of statistical analysis and visualization helps identify trends, seasonality and anomalies.</a:t>
            </a:r>
          </a:p>
          <a:p>
            <a:pPr>
              <a:spcAft>
                <a:spcPts val="1200"/>
              </a:spcAft>
              <a:defRPr sz="1600">
                <a:solidFill>
                  <a:srgbClr val="232D37"/>
                </a:solidFill>
              </a:defRPr>
            </a:pPr>
            <a:r>
              <a:t>Such analysis can support better environmental and operational decisions.</a:t>
            </a:r>
          </a:p>
          <a:p>
            <a:pPr>
              <a:spcAft>
                <a:spcPts val="1200"/>
              </a:spcAft>
              <a:defRPr sz="1600">
                <a:solidFill>
                  <a:srgbClr val="232D37"/>
                </a:solidFill>
              </a:defRPr>
            </a:pPr>
            <a:r>
              <a:t>References: World Bank Climate Change Knowledge Portal; Neal et al. (2020), International Journal of Climatology; Nayak et al. (2022), Atmosphere; BAMS State of the Climate (2026).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8B8B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Weather Pattern Analysis  |  Yasothadevi  |  CODTECH IT SOLUTION PVT. LTD.  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